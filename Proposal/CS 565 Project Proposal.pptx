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Sora SemiBold"/>
      <p:regular r:id="rId18"/>
      <p:bold r:id="rId19"/>
    </p:embeddedFont>
    <p:embeddedFont>
      <p:font typeface="IBM Plex Sans Medium"/>
      <p:regular r:id="rId20"/>
      <p:bold r:id="rId21"/>
      <p:italic r:id="rId22"/>
      <p:boldItalic r:id="rId23"/>
    </p:embeddedFont>
    <p:embeddedFont>
      <p:font typeface="Sora Light"/>
      <p:regular r:id="rId24"/>
      <p:bold r:id="rId25"/>
    </p:embeddedFont>
    <p:embeddedFont>
      <p:font typeface="Sora ExtraLight"/>
      <p:regular r:id="rId26"/>
      <p:bold r:id="rId27"/>
    </p:embeddedFont>
    <p:embeddedFont>
      <p:font typeface="Sora"/>
      <p:regular r:id="rId28"/>
      <p:bold r:id="rId29"/>
    </p:embeddedFont>
    <p:embeddedFont>
      <p:font typeface="Sora Medium"/>
      <p:regular r:id="rId30"/>
      <p:bold r:id="rId31"/>
    </p:embeddedFont>
    <p:embeddedFont>
      <p:font typeface="IBM Plex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Medium-bold.fntdata"/><Relationship Id="rId30" Type="http://schemas.openxmlformats.org/officeDocument/2006/relationships/font" Target="fonts/SoraMedium-regular.fntdata"/><Relationship Id="rId33" Type="http://schemas.openxmlformats.org/officeDocument/2006/relationships/font" Target="fonts/IBMPlexSansSemiBold-bold.fntdata"/><Relationship Id="rId32" Type="http://schemas.openxmlformats.org/officeDocument/2006/relationships/font" Target="fonts/IBMPlexSansSemiBold-regular.fntdata"/><Relationship Id="rId35" Type="http://schemas.openxmlformats.org/officeDocument/2006/relationships/font" Target="fonts/IBMPlexSansSemiBold-boldItalic.fntdata"/><Relationship Id="rId34" Type="http://schemas.openxmlformats.org/officeDocument/2006/relationships/font" Target="fonts/IBMPlexSansSemiBold-italic.fntdata"/><Relationship Id="rId20" Type="http://schemas.openxmlformats.org/officeDocument/2006/relationships/font" Target="fonts/IBMPlexSansMedium-regular.fntdata"/><Relationship Id="rId22" Type="http://schemas.openxmlformats.org/officeDocument/2006/relationships/font" Target="fonts/IBMPlexSansMedium-italic.fntdata"/><Relationship Id="rId21" Type="http://schemas.openxmlformats.org/officeDocument/2006/relationships/font" Target="fonts/IBMPlexSansMedium-bold.fntdata"/><Relationship Id="rId24" Type="http://schemas.openxmlformats.org/officeDocument/2006/relationships/font" Target="fonts/SoraLight-regular.fntdata"/><Relationship Id="rId23" Type="http://schemas.openxmlformats.org/officeDocument/2006/relationships/font" Target="fonts/IBMPlexSansMedium-boldItalic.fntdata"/><Relationship Id="rId26" Type="http://schemas.openxmlformats.org/officeDocument/2006/relationships/font" Target="fonts/SoraExtraLight-regular.fntdata"/><Relationship Id="rId25" Type="http://schemas.openxmlformats.org/officeDocument/2006/relationships/font" Target="fonts/SoraLight-bold.fntdata"/><Relationship Id="rId28" Type="http://schemas.openxmlformats.org/officeDocument/2006/relationships/font" Target="fonts/Sora-regular.fntdata"/><Relationship Id="rId27" Type="http://schemas.openxmlformats.org/officeDocument/2006/relationships/font" Target="fonts/SoraExtraLight-bold.fntdata"/><Relationship Id="rId29" Type="http://schemas.openxmlformats.org/officeDocument/2006/relationships/font" Target="fonts/Sora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SoraSemiBold-bold.fntdata"/><Relationship Id="rId18" Type="http://schemas.openxmlformats.org/officeDocument/2006/relationships/font" Target="fonts/Sor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d4db73a79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d4db73a79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7d4db73a79_0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7d4db73a79_0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7d4db73a79_0_1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7d4db73a79_0_1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7d4db73a79_0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7d4db73a79_0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7d4db73a79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7d4db73a79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7d4db73a79_0_1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7d4db73a79_0_1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7d4db73a79_0_1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7d4db73a79_0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75849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Low Resolution Facial Recognition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Daniel Szurek, Brandon Nguyen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40" name="Google Shape;940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4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942" name="Google Shape;942;p64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43" name="Google Shape;943;p64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</a:t>
            </a:r>
            <a:endParaRPr/>
          </a:p>
        </p:txBody>
      </p:sp>
      <p:sp>
        <p:nvSpPr>
          <p:cNvPr id="944" name="Google Shape;944;p64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45" name="Google Shape;945;p64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946" name="Google Shape;946;p64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47" name="Google Shape;947;p64"/>
          <p:cNvSpPr txBox="1"/>
          <p:nvPr>
            <p:ph idx="9" type="subTitle"/>
          </p:nvPr>
        </p:nvSpPr>
        <p:spPr>
          <a:xfrm>
            <a:off x="4482800" y="26736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48" name="Google Shape;948;p64"/>
          <p:cNvSpPr txBox="1"/>
          <p:nvPr>
            <p:ph idx="8" type="subTitle"/>
          </p:nvPr>
        </p:nvSpPr>
        <p:spPr>
          <a:xfrm>
            <a:off x="4482800" y="28824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5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954" name="Google Shape;954;p65"/>
          <p:cNvSpPr txBox="1"/>
          <p:nvPr>
            <p:ph idx="1" type="body"/>
          </p:nvPr>
        </p:nvSpPr>
        <p:spPr>
          <a:xfrm>
            <a:off x="3289475" y="502775"/>
            <a:ext cx="5625900" cy="31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Most security cameras use wide angles and are far away from subjects, which is good for surveillance, but bad for identifying individuals. Most of these cameras have a very low resolution when zooming in on an individual, making traditional facial recognition techniques impossible to use. Low Resolution Facial Recognition (LRFR) focuses on solving this problem</a:t>
            </a:r>
            <a:endParaRPr sz="8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5" name="Google Shape;955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"/>
          <p:cNvSpPr txBox="1"/>
          <p:nvPr>
            <p:ph idx="3" type="body"/>
          </p:nvPr>
        </p:nvSpPr>
        <p:spPr>
          <a:xfrm>
            <a:off x="115025" y="1548200"/>
            <a:ext cx="41364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 aim to explore lightweight, edge-friendly methods to perform face search with low-resolution queries. We will combine a super resolution model with an advanced lightweight recognition model to improve upon historical LR face recognition rates. 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6"/>
          <p:cNvSpPr txBox="1"/>
          <p:nvPr>
            <p:ph idx="4" type="title"/>
          </p:nvPr>
        </p:nvSpPr>
        <p:spPr>
          <a:xfrm>
            <a:off x="115025" y="502775"/>
            <a:ext cx="512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</a:t>
            </a:r>
            <a:endParaRPr/>
          </a:p>
        </p:txBody>
      </p:sp>
      <p:pic>
        <p:nvPicPr>
          <p:cNvPr id="963" name="Google Shape;96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875" y="2445500"/>
            <a:ext cx="34480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7"/>
          <p:cNvSpPr txBox="1"/>
          <p:nvPr>
            <p:ph idx="1" type="body"/>
          </p:nvPr>
        </p:nvSpPr>
        <p:spPr>
          <a:xfrm>
            <a:off x="4632600" y="2571750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Very Low Resolution Face Recognition Problem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Authors: Wilman W. W. Zou, Pong C. Yuen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Describes a super resolution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that significantly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improves upon existing models.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7"/>
          <p:cNvSpPr txBox="1"/>
          <p:nvPr>
            <p:ph idx="2" type="body"/>
          </p:nvPr>
        </p:nvSpPr>
        <p:spPr>
          <a:xfrm>
            <a:off x="4632600" y="695100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lightweight deep learning model for real-time face recognition</a:t>
            </a:r>
            <a:endParaRPr b="1"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Authors: Zong-Yue Deng, Hsin-Han Chiang, Li-Wei Kang, Hsiao-Chi Li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FN8 Model, 3.5 MB (30x smaller than FaceNet), 1.2M parameters, 0.06 GFLOPS. 99.2% accuracy for 3-sample strategy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7"/>
          <p:cNvSpPr txBox="1"/>
          <p:nvPr>
            <p:ph idx="3" type="title"/>
          </p:nvPr>
        </p:nvSpPr>
        <p:spPr>
          <a:xfrm>
            <a:off x="115025" y="502775"/>
            <a:ext cx="3905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971" name="Google Shape;971;p67"/>
          <p:cNvSpPr txBox="1"/>
          <p:nvPr/>
        </p:nvSpPr>
        <p:spPr>
          <a:xfrm>
            <a:off x="228600" y="1156500"/>
            <a:ext cx="289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We will be using these works, along with others, to establish a basis for our project.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72" name="Google Shape;9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975" y="3426925"/>
            <a:ext cx="5708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938" y="3426925"/>
            <a:ext cx="5143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7425" y="3426925"/>
            <a:ext cx="5905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8"/>
          <p:cNvSpPr txBox="1"/>
          <p:nvPr>
            <p:ph idx="2" type="body"/>
          </p:nvPr>
        </p:nvSpPr>
        <p:spPr>
          <a:xfrm>
            <a:off x="4020425" y="827575"/>
            <a:ext cx="4007400" cy="21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 aim to develop a new, unique pipeline upscaling native low resolution images and sending them to a lightweight model, finding improved recognition rates while also reducing performance cost. </a:t>
            </a:r>
            <a:endParaRPr sz="18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0" name="Google Shape;980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8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9"/>
          <p:cNvSpPr txBox="1"/>
          <p:nvPr>
            <p:ph type="title"/>
          </p:nvPr>
        </p:nvSpPr>
        <p:spPr>
          <a:xfrm>
            <a:off x="2662050" y="1387200"/>
            <a:ext cx="3819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&amp;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